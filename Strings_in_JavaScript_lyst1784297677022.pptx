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</p:sldIdLst>
  <p:sldSz cy="5143500" cx="9144000"/>
  <p:notesSz cx="6858000" cy="9144000"/>
  <p:embeddedFontLst>
    <p:embeddedFont>
      <p:font typeface="Barlow ExtraLight"/>
      <p:regular r:id="rId17"/>
      <p:bold r:id="rId18"/>
      <p:italic r:id="rId19"/>
      <p:boldItalic r:id="rId20"/>
    </p:embeddedFont>
    <p:embeddedFont>
      <p:font typeface="Hepta Slab Medium"/>
      <p:regular r:id="rId21"/>
      <p:bold r:id="rId22"/>
    </p:embeddedFont>
    <p:embeddedFont>
      <p:font typeface="Hepta Slab Light"/>
      <p:regular r:id="rId23"/>
      <p:bold r:id="rId24"/>
    </p:embeddedFont>
    <p:embeddedFont>
      <p:font typeface="Hepta Slab"/>
      <p:regular r:id="rId25"/>
      <p:bold r:id="rId26"/>
    </p:embeddedFont>
    <p:embeddedFont>
      <p:font typeface="Hepta Slab SemiBold"/>
      <p:regular r:id="rId27"/>
      <p:bold r:id="rId28"/>
    </p:embeddedFont>
    <p:embeddedFont>
      <p:font typeface="Barlow Medium"/>
      <p:regular r:id="rId29"/>
      <p:bold r:id="rId30"/>
      <p:italic r:id="rId31"/>
      <p:boldItalic r:id="rId32"/>
    </p:embeddedFont>
    <p:embeddedFont>
      <p:font typeface="Barlow Light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font" Target="fonts/BarlowExtraLight-boldItalic.fntdata"/><Relationship Id="rId22" Type="http://schemas.openxmlformats.org/officeDocument/2006/relationships/font" Target="fonts/HeptaSlabMedium-bold.fntdata"/><Relationship Id="rId21" Type="http://schemas.openxmlformats.org/officeDocument/2006/relationships/font" Target="fonts/HeptaSlabMedium-regular.fntdata"/><Relationship Id="rId24" Type="http://schemas.openxmlformats.org/officeDocument/2006/relationships/font" Target="fonts/HeptaSlabLight-bold.fntdata"/><Relationship Id="rId23" Type="http://schemas.openxmlformats.org/officeDocument/2006/relationships/font" Target="fonts/HeptaSlab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6" Type="http://schemas.openxmlformats.org/officeDocument/2006/relationships/font" Target="fonts/HeptaSlab-bold.fntdata"/><Relationship Id="rId25" Type="http://schemas.openxmlformats.org/officeDocument/2006/relationships/font" Target="fonts/HeptaSlab-regular.fntdata"/><Relationship Id="rId28" Type="http://schemas.openxmlformats.org/officeDocument/2006/relationships/font" Target="fonts/HeptaSlabSemiBold-bold.fntdata"/><Relationship Id="rId27" Type="http://schemas.openxmlformats.org/officeDocument/2006/relationships/font" Target="fonts/HeptaSlabSemiBold-regular.fntdata"/><Relationship Id="rId5" Type="http://schemas.openxmlformats.org/officeDocument/2006/relationships/notesMaster" Target="notesMasters/notesMaster1.xml"/><Relationship Id="rId29" Type="http://schemas.openxmlformats.org/officeDocument/2006/relationships/font" Target="fonts/BarlowMedium-regular.fntdata"/><Relationship Id="rId31" Type="http://schemas.openxmlformats.org/officeDocument/2006/relationships/font" Target="fonts/BarlowMedium-italic.fntdata"/><Relationship Id="rId30" Type="http://schemas.openxmlformats.org/officeDocument/2006/relationships/font" Target="fonts/BarlowMedium-bold.fntdata"/><Relationship Id="rId33" Type="http://schemas.openxmlformats.org/officeDocument/2006/relationships/font" Target="fonts/BarlowLight-regular.fntdata"/><Relationship Id="rId32" Type="http://schemas.openxmlformats.org/officeDocument/2006/relationships/font" Target="fonts/BarlowMedium-boldItalic.fntdata"/><Relationship Id="rId35" Type="http://schemas.openxmlformats.org/officeDocument/2006/relationships/font" Target="fonts/BarlowLight-italic.fntdata"/><Relationship Id="rId34" Type="http://schemas.openxmlformats.org/officeDocument/2006/relationships/font" Target="fonts/BarlowLight-bold.fntdata"/><Relationship Id="rId37" Type="http://schemas.openxmlformats.org/officeDocument/2006/relationships/font" Target="fonts/Barlow-regular.fntdata"/><Relationship Id="rId36" Type="http://schemas.openxmlformats.org/officeDocument/2006/relationships/font" Target="fonts/BarlowLight-boldItalic.fntdata"/><Relationship Id="rId17" Type="http://schemas.openxmlformats.org/officeDocument/2006/relationships/font" Target="fonts/BarlowExtraLight-regular.fntdata"/><Relationship Id="rId39" Type="http://schemas.openxmlformats.org/officeDocument/2006/relationships/font" Target="fonts/Barlow-italic.fntdata"/><Relationship Id="rId38" Type="http://schemas.openxmlformats.org/officeDocument/2006/relationships/font" Target="fonts/Barlow-bold.fntdata"/><Relationship Id="rId19" Type="http://schemas.openxmlformats.org/officeDocument/2006/relationships/font" Target="fonts/BarlowExtraLight-italic.fntdata"/><Relationship Id="rId18" Type="http://schemas.openxmlformats.org/officeDocument/2006/relationships/font" Target="fonts/BarlowExtraLight-bold.fntdata"/>  <Relationship Id="rId41" Type="http://schemas.openxmlformats.org/officeDocument/2006/relationships/slide" Target="slides/slide12.xml"/>
  <Relationship Id="rId42" Type="http://schemas.openxmlformats.org/officeDocument/2006/relationships/slide" Target="slides/slide13.xml"/>
  <Relationship Id="rId43" Type="http://schemas.openxmlformats.org/officeDocument/2006/relationships/slide" Target="slides/slide14.xml"/>
  <Relationship Id="rId44" Type="http://schemas.openxmlformats.org/officeDocument/2006/relationships/slide" Target="slides/slide15.xml"/>
  <Relationship Id="rId45" Type="http://schemas.openxmlformats.org/officeDocument/2006/relationships/slide" Target="slides/slide16.xml"/>
  <Relationship Id="rId46" Type="http://schemas.openxmlformats.org/officeDocument/2006/relationships/slide" Target="slides/slide17.xml"/>
  <Relationship Id="rId47" Type="http://schemas.openxmlformats.org/officeDocument/2006/relationships/slide" Target="slides/slide18.xml"/>
  <Relationship Id="rId48" Type="http://schemas.openxmlformats.org/officeDocument/2006/relationships/slide" Target="slides/slide19.xml"/>
  <Relationship Id="rId49" Type="http://schemas.openxmlformats.org/officeDocument/2006/relationships/slide" Target="slides/slide20.xml"/>
  <Relationship Id="rId50" Type="http://schemas.openxmlformats.org/officeDocument/2006/relationships/slide" Target="slides/slide21.xml"/>
  <Relationship Id="rId51" Type="http://schemas.openxmlformats.org/officeDocument/2006/relationships/slide" Target="slides/slide22.xml"/>
  <Relationship Id="rId52" Type="http://schemas.openxmlformats.org/officeDocument/2006/relationships/slide" Target="slides/slide23.xml"/>
  <Relationship Id="rId53" Type="http://schemas.openxmlformats.org/officeDocument/2006/relationships/slide" Target="slides/slide24.xml"/>
  <Relationship Id="rId54" Type="http://schemas.openxmlformats.org/officeDocument/2006/relationships/slide" Target="slides/slide2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Strings in JavaScript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Introduction</a:t>
            </a:r>
            <a:endParaRPr b="0" sz="3200">
              <a:solidFill>
                <a:srgbClr val="FFFFFF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grpSp>
        <p:nvGrpSpPr>
          <p:cNvPr id="332" name="Google Shape;332;p48"/>
          <p:cNvGrpSpPr/>
          <p:nvPr/>
        </p:nvGrpSpPr>
        <p:grpSpPr>
          <a:xfrm>
            <a:off x="571500" y="1428750"/>
            <a:ext cx="3619500" cy="3048000"/>
            <a:chOff x="0" y="0"/>
            <a:chExt cx="3619500" cy="3048000"/>
          </a:xfrm>
        </p:grpSpPr>
        <p:cxnSp>
          <p:nvCxnSpPr>
            <p:cNvPr id="333" name="Google Shape;333;p48"/>
            <p:cNvCxnSpPr/>
            <p:nvPr/>
          </p:nvCxnSpPr>
          <p:spPr>
            <a:xfrm>
              <a:off x="0" y="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F7DF1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4" name="Google Shape;334;p48"/>
            <p:cNvSpPr txBox="1"/>
            <p:nvPr/>
          </p:nvSpPr>
          <p:spPr>
            <a:xfrm>
              <a:off x="0" y="190500"/>
              <a:ext cx="361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Immutability</a:t>
              </a:r>
              <a:endParaRPr b="0" sz="22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Strings in JavaScript are immutable. Once a string is created, you cannot change a character inside it directly — every method that appears to modify a string actually returns a brand-new string, leaving the original untouched.</a:t>
              </a:r>
              <a:endParaRPr b="0" sz="1300">
                <a:solidFill>
                  <a:srgbClr val="CCCCCC"/>
                </a:solidFill>
                <a:latin typeface="Barlow Light"/>
                <a:ea typeface="Barlow Light"/>
                <a:cs typeface="Barlow Light"/>
                <a:sym typeface="Barlow Light"/>
              </a:endParaRPr>
            </a:p>
          </p:txBody>
        </p:sp>
      </p:grpSp>
      <p:grpSp>
        <p:nvGrpSpPr>
          <p:cNvPr id="335" name="Google Shape;335;p48"/>
          <p:cNvGrpSpPr/>
          <p:nvPr/>
        </p:nvGrpSpPr>
        <p:grpSpPr>
          <a:xfrm>
            <a:off x="4762500" y="1428750"/>
            <a:ext cx="3810000" cy="2667000"/>
            <a:chOff x="0" y="0"/>
            <a:chExt cx="3810000" cy="2667000"/>
          </a:xfrm>
        </p:grpSpPr>
        <p:sp>
          <p:nvSpPr>
            <p:cNvPr id="336" name="Google Shape;336;p48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4285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8"/>
            <p:cNvSpPr/>
            <p:nvPr/>
          </p:nvSpPr>
          <p:spPr>
            <a:xfrm>
              <a:off x="0" y="0"/>
              <a:ext cx="114300" cy="2667000"/>
            </a:xfrm>
            <a:custGeom>
              <a:rect b="b" l="l" r="r" t="t"/>
              <a:pathLst>
                <a:path extrusionOk="0" h="120000" w="120000">
                  <a:moveTo>
                    <a:pt x="0" y="5143"/>
                  </a:moveTo>
                  <a:cubicBezTo>
                    <a:pt x="-1" y="3779"/>
                    <a:pt x="12642" y="2471"/>
                    <a:pt x="35146" y="1506"/>
                  </a:cubicBezTo>
                  <a:cubicBezTo>
                    <a:pt x="57650" y="542"/>
                    <a:pt x="88173" y="0"/>
                    <a:pt x="120000" y="0"/>
                  </a:cubicBezTo>
                  <a:lnTo>
                    <a:pt x="120000" y="120000"/>
                  </a:lnTo>
                  <a:cubicBezTo>
                    <a:pt x="88174" y="120000"/>
                    <a:pt x="57652" y="119458"/>
                    <a:pt x="35147" y="118494"/>
                  </a:cubicBezTo>
                  <a:cubicBezTo>
                    <a:pt x="12643" y="117529"/>
                    <a:pt x="0" y="116221"/>
                    <a:pt x="0" y="114857"/>
                  </a:cubicBezTo>
                  <a:close/>
                </a:path>
              </a:pathLst>
            </a:cu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8"/>
            <p:cNvSpPr txBox="1"/>
            <p:nvPr/>
          </p:nvSpPr>
          <p:spPr>
            <a:xfrm>
              <a:off x="285750" y="285750"/>
              <a:ext cx="3238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7DF1E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Zero-Based Indexing</a:t>
              </a:r>
              <a:endParaRPr b="0" sz="2200">
                <a:solidFill>
                  <a:srgbClr val="F7DF1E"/>
                </a:solidFill>
                <a:latin typeface="Hepta Slab Medium"/>
                <a:ea typeface="Hepta Slab Medium"/>
                <a:cs typeface="Hepta Slab Medium"/>
                <a:sym typeface="Hepta Slab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 string behaves like an array of characters — each character has a numeric position called an index.</a:t>
              </a:r>
              <a:endParaRPr b="0" sz="14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AAAAA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Indexing always starts at 0. In "Mukesh", M is at index 0 and h is at index 5 — access any character with bracket notation, e.g. str[0].</a:t>
              </a:r>
              <a:endParaRPr b="0" sz="1200">
                <a:solidFill>
                  <a:srgbClr val="AAAAAA"/>
                </a:solidFill>
                <a:latin typeface="Barlow Light"/>
                <a:ea typeface="Barlow Light"/>
                <a:cs typeface="Barlow Light"/>
                <a:sym typeface="Barlow Ligh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String Methods</a:t>
            </a:r>
            <a:endParaRPr b="0" sz="3000">
              <a:solidFill>
                <a:srgbClr val="FFFFFF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414" name="Google Shape;414;p52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0" name="Google Shape;9000;p52"/>
          <p:cNvGrpSpPr/>
          <p:nvPr/>
        </p:nvGrpSpPr>
        <p:grpSpPr>
          <a:xfrm>
            <a:off x="571500" y="1285875"/>
            <a:ext cx="1447800" cy="1285800"/>
            <a:chOff x="0" y="0"/>
            <a:chExt cx="1447800" cy="1285800"/>
          </a:xfrm>
        </p:grpSpPr>
        <p:sp>
          <p:nvSpPr>
            <p:cNvPr id="9001" name="Google Shape;9001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2" name="Google Shape;9002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01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toLowerCase()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03" name="Google Shape;9003;p52"/>
          <p:cNvGrpSpPr/>
          <p:nvPr/>
        </p:nvGrpSpPr>
        <p:grpSpPr>
          <a:xfrm>
            <a:off x="2209875" y="1285875"/>
            <a:ext cx="1447800" cy="1285800"/>
            <a:chOff x="0" y="0"/>
            <a:chExt cx="1447800" cy="1285800"/>
          </a:xfrm>
        </p:grpSpPr>
        <p:sp>
          <p:nvSpPr>
            <p:cNvPr id="9004" name="Google Shape;9004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5" name="Google Shape;9005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02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toUpperCase()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06" name="Google Shape;9006;p52"/>
          <p:cNvGrpSpPr/>
          <p:nvPr/>
        </p:nvGrpSpPr>
        <p:grpSpPr>
          <a:xfrm>
            <a:off x="3848250" y="1285875"/>
            <a:ext cx="1447800" cy="1285800"/>
            <a:chOff x="0" y="0"/>
            <a:chExt cx="1447800" cy="1285800"/>
          </a:xfrm>
        </p:grpSpPr>
        <p:sp>
          <p:nvSpPr>
            <p:cNvPr id="9007" name="Google Shape;9007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8" name="Google Shape;9008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03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boolean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startsWith()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09" name="Google Shape;9009;p52"/>
          <p:cNvGrpSpPr/>
          <p:nvPr/>
        </p:nvGrpSpPr>
        <p:grpSpPr>
          <a:xfrm>
            <a:off x="5486625" y="1285875"/>
            <a:ext cx="1447800" cy="1285800"/>
            <a:chOff x="0" y="0"/>
            <a:chExt cx="1447800" cy="1285800"/>
          </a:xfrm>
        </p:grpSpPr>
        <p:sp>
          <p:nvSpPr>
            <p:cNvPr id="9010" name="Google Shape;9010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1" name="Google Shape;9011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04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boolean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endsWith()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12" name="Google Shape;9012;p52"/>
          <p:cNvGrpSpPr/>
          <p:nvPr/>
        </p:nvGrpSpPr>
        <p:grpSpPr>
          <a:xfrm>
            <a:off x="7125000" y="1285875"/>
            <a:ext cx="1447800" cy="1285800"/>
            <a:chOff x="0" y="0"/>
            <a:chExt cx="1447800" cy="1285800"/>
          </a:xfrm>
        </p:grpSpPr>
        <p:sp>
          <p:nvSpPr>
            <p:cNvPr id="9013" name="Google Shape;9013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4" name="Google Shape;9014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05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boolean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includes()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15" name="Google Shape;9015;p52"/>
          <p:cNvGrpSpPr/>
          <p:nvPr/>
        </p:nvGrpSpPr>
        <p:grpSpPr>
          <a:xfrm>
            <a:off x="571500" y="2809875"/>
            <a:ext cx="1447800" cy="1285800"/>
            <a:chOff x="0" y="0"/>
            <a:chExt cx="1447800" cy="1285800"/>
          </a:xfrm>
        </p:grpSpPr>
        <p:sp>
          <p:nvSpPr>
            <p:cNvPr id="9016" name="Google Shape;9016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7" name="Google Shape;9017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06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slice()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18" name="Google Shape;9018;p52"/>
          <p:cNvGrpSpPr/>
          <p:nvPr/>
        </p:nvGrpSpPr>
        <p:grpSpPr>
          <a:xfrm>
            <a:off x="2209875" y="2809875"/>
            <a:ext cx="1447800" cy="1285800"/>
            <a:chOff x="0" y="0"/>
            <a:chExt cx="1447800" cy="1285800"/>
          </a:xfrm>
        </p:grpSpPr>
        <p:sp>
          <p:nvSpPr>
            <p:cNvPr id="9019" name="Google Shape;9019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0" name="Google Shape;9020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07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substring()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21" name="Google Shape;9021;p52"/>
          <p:cNvGrpSpPr/>
          <p:nvPr/>
        </p:nvGrpSpPr>
        <p:grpSpPr>
          <a:xfrm>
            <a:off x="3848250" y="2809875"/>
            <a:ext cx="1447800" cy="1285800"/>
            <a:chOff x="0" y="0"/>
            <a:chExt cx="1447800" cy="1285800"/>
          </a:xfrm>
        </p:grpSpPr>
        <p:sp>
          <p:nvSpPr>
            <p:cNvPr id="9022" name="Google Shape;9022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3" name="Google Shape;9023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08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array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split()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24" name="Google Shape;9024;p52"/>
          <p:cNvGrpSpPr/>
          <p:nvPr/>
        </p:nvGrpSpPr>
        <p:grpSpPr>
          <a:xfrm>
            <a:off x="5486625" y="2809875"/>
            <a:ext cx="1447800" cy="1285800"/>
            <a:chOff x="0" y="0"/>
            <a:chExt cx="1447800" cy="1285800"/>
          </a:xfrm>
        </p:grpSpPr>
        <p:sp>
          <p:nvSpPr>
            <p:cNvPr id="9025" name="Google Shape;9025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6" name="Google Shape;9026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09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replace()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  <p:grpSp>
        <p:nvGrpSpPr>
          <p:cNvPr id="9027" name="Google Shape;9027;p52"/>
          <p:cNvGrpSpPr/>
          <p:nvPr/>
        </p:nvGrpSpPr>
        <p:grpSpPr>
          <a:xfrm>
            <a:off x="7125000" y="2809875"/>
            <a:ext cx="1447800" cy="1285800"/>
            <a:chOff x="0" y="0"/>
            <a:chExt cx="1447800" cy="1285800"/>
          </a:xfrm>
        </p:grpSpPr>
        <p:sp>
          <p:nvSpPr>
            <p:cNvPr id="9028" name="Google Shape;9028;p52"/>
            <p:cNvSpPr/>
            <p:nvPr/>
          </p:nvSpPr>
          <p:spPr>
            <a:xfrm>
              <a:off x="0" y="0"/>
              <a:ext cx="1447800" cy="1285800"/>
            </a:xfrm>
            <a:prstGeom prst="roundRect">
              <a:avLst>
                <a:gd fmla="val 7407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9" name="Google Shape;9029;p52"/>
            <p:cNvSpPr txBox="1"/>
            <p:nvPr/>
          </p:nvSpPr>
          <p:spPr>
            <a:xfrm>
              <a:off x="142875" y="142875"/>
              <a:ext cx="116205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10</a:t>
              </a:r>
              <a:r>
                <a:rPr lang="en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Hepta Slab SemiBold"/>
                  <a:ea typeface="Hepta Slab SemiBold"/>
                  <a:cs typeface="Hepta Slab SemiBold"/>
                  <a:sym typeface="Hepta Slab SemiBold"/>
                </a:rPr>
                <a:t>trim()</a:t>
              </a:r>
              <a:endParaRPr b="0" sz="1400">
                <a:solidFill>
                  <a:srgbClr val="FFFFFF"/>
                </a:solidFill>
                <a:latin typeface="Hepta Slab SemiBold"/>
                <a:ea typeface="Hepta Slab SemiBold"/>
                <a:cs typeface="Hepta Slab SemiBold"/>
                <a:sym typeface="Hepta Slab Semi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00" name="Shape 90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1" name="Google Shape;900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toLowerCase()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002" name="Google Shape;900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03" name="Google Shape;900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004" name="Google Shape;900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05" name="Google Shape;900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STRING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Lowercase Everything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toLowerCase() returns a new string with every character converted to lowercase. The original string is never modified.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Commonly used for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case-insensitive comparisons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, like matching a username or email no matter how it was typed.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006" name="Google Shape;900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007" name="Google Shape;900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08" name="Google Shape;900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name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"Mukesh OTWANI"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(name.toLowerCase());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"mukesh otwani"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00" name="Shape 90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01" name="Google Shape;901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toUpperCase()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102" name="Google Shape;901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103" name="Google Shape;901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104" name="Google Shape;901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05" name="Google Shape;901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STRING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Uppercase Everything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toUpperCase() returns a new string with every character converted to uppercase, leaving the original string untouched.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Handy for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formatting labels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or status badges, like turning "passed" into "PASSED".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106" name="Google Shape;901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107" name="Google Shape;901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08" name="Google Shape;901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status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"passed"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(status.toUpperCase());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"PASSED"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00" name="Shape 90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1" name="Google Shape;902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startsWith()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202" name="Google Shape;902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203" name="Google Shape;902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204" name="Google Shape;902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05" name="Google Shape;902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SEARCH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Check the Beginning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startsWith() checks whether a string begins with the given characters and returns a boolean.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The check is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case-sensitive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, so "Java" and "java" are treated as different values.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206" name="Google Shape;902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207" name="Google Shape;902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08" name="Google Shape;902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"JavaScript"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(str.startsWith("Java"));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true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00" name="Shape 90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01" name="Google Shape;903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endsWith()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302" name="Google Shape;903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303" name="Google Shape;903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304" name="Google Shape;903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05" name="Google Shape;903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SEARCH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Check the Ending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endsWith() checks whether a string ends with the given characters and returns a boolean.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An optional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second argument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limits how much of the string is checked.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306" name="Google Shape;903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307" name="Google Shape;903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08" name="Google Shape;903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file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"report.pdf"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(file.endsWith(".pdf"));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true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00" name="Shape 90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01" name="Google Shape;904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includes()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402" name="Google Shape;904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403" name="Google Shape;904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404" name="Google Shape;904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05" name="Google Shape;904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SEARCH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Find Anywhere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includes() checks whether a substring exists anywhere inside a string and returns true or false.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Unlike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indexOf()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, it returns a clean boolean, which reads better in conditions.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406" name="Google Shape;904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407" name="Google Shape;904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08" name="Google Shape;904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line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"Learn Automation with Mukesh"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(line.includes("Automation"));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true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00" name="Shape 90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01" name="Google Shape;905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slice()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502" name="Google Shape;905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503" name="Google Shape;905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504" name="Google Shape;905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05" name="Google Shape;905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EXTRACTION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Extract a Section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slice(start, end) extracts part of a string and returns it as a new string, without changing the original.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Negative indices 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count from the end —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slice(-5)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grabs the last 5 characters.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506" name="Google Shape;905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507" name="Google Shape;905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08" name="Google Shape;905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"Hello World"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(str.slice(0, 5));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"Hello"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(str.slice(-5));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"World"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00" name="Shape 90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01" name="Google Shape;906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substring()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602" name="Google Shape;906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603" name="Google Shape;906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604" name="Google Shape;906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05" name="Google Shape;906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EXTRACTION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Extract a Range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substring(start, end) works like slice(), extracting the characters between two indices.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It does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not support negative indices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— any negative value is treated as 0.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606" name="Google Shape;906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607" name="Google Shape;906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08" name="Google Shape;906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"Hello World"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(str.substring(0, 5));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"Hello"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(str.substring(-3, 5));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"Hello"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00" name="Shape 90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01" name="Google Shape;907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split()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702" name="Google Shape;907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03" name="Google Shape;907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704" name="Google Shape;907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05" name="Google Shape;907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CONVERSION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String to Array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split(separator) breaks a string into an array of substrings, based on the separator you provide.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Pass an empty string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""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to split every character into its own array item.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706" name="Google Shape;907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707" name="Google Shape;907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08" name="Google Shape;907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roles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"QA,Dev,PM"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(roles.split(","));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["QA", "Dev", "PM"]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00" name="Shape 90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01" name="Google Shape;908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replace()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802" name="Google Shape;908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803" name="Google Shape;908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804" name="Google Shape;908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05" name="Google Shape;908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MODIFICATION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Swap Text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replace(search, newText) returns a new string with the first match of search swapped out for newText.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Use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replaceAll()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instead if you need to replace every occurrence, not just the first.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806" name="Google Shape;908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807" name="Google Shape;908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08" name="Google Shape;908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"Hello World"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(str.replace("World", "Mukesh"));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"Hello Mukesh"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00" name="Shape 90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01" name="Google Shape;909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trim()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902" name="Google Shape;909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903" name="Google Shape;909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0904" name="Google Shape;909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05" name="Google Shape;909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CLEANUP METHOD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Remove Extra Spaces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trim() removes whitespace from both the start and end of a string, leaving inner spaces untouched.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Use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trimStart()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or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trimEnd()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to clean up only one side.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906" name="Google Shape;909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0907" name="Google Shape;909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08" name="Google Shape;909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input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   Hello World   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(input.trim());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"Hello World"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00" name="Shape 9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1" name="Google Shape;91001;pS"/>
          <p:cNvSpPr txBox="1"/>
          <p:nvPr>
            <p:ph type="title"/>
          </p:nvPr>
        </p:nvSpPr>
        <p:spPr>
          <a:xfrm>
            <a:off x="571500" y="42862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FFFFF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Template Literals</a:t>
            </a:r>
            <a:endParaRPr b="1" sz="1000">
              <a:solidFill>
                <a:srgbClr val="F7DF1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002" name="Google Shape;91002;pS"/>
          <p:cNvSpPr/>
          <p:nvPr/>
        </p:nvSpPr>
        <p:spPr>
          <a:xfrm>
            <a:off x="571500" y="952500"/>
            <a:ext cx="571500" cy="381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003" name="Google Shape;91003;pS"/>
          <p:cNvGrpSpPr/>
          <p:nvPr/>
        </p:nvGrpSpPr>
        <p:grpSpPr>
          <a:xfrm>
            <a:off x="571500" y="1285875"/>
            <a:ext cx="3762300" cy="3238500"/>
            <a:chOff x="0" y="0"/>
            <a:chExt cx="3762300" cy="3238500"/>
          </a:xfrm>
        </p:grpSpPr>
        <p:sp>
          <p:nvSpPr>
            <p:cNvPr id="91004" name="Google Shape;91004;pS"/>
            <p:cNvSpPr/>
            <p:nvPr/>
          </p:nvSpPr>
          <p:spPr>
            <a:xfrm>
              <a:off x="0" y="0"/>
              <a:ext cx="37623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05" name="Google Shape;91005;pS"/>
            <p:cNvSpPr txBox="1"/>
            <p:nvPr/>
          </p:nvSpPr>
          <p:spPr>
            <a:xfrm>
              <a:off x="0" y="0"/>
              <a:ext cx="3762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MODERN SYNTAX (ES6 / 2015)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Hepta Slab Medium"/>
                  <a:ea typeface="Hepta Slab Medium"/>
                  <a:cs typeface="Hepta Slab Medium"/>
                  <a:sym typeface="Hepta Slab Medium"/>
                </a:rPr>
                <a:t>Build Strings Dynamically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A template literal uses backticks (`) instead of quotes, letting you embed variables and expressions directly using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${}</a:t>
              </a:r>
              <a:r>
                <a:rPr b="0" lang="en" sz="1300">
                  <a:solidFill>
                    <a:srgbClr val="CCCCCC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They also support </a:t>
              </a:r>
              <a:r>
                <a:rPr b="1" lang="en" sz="1300">
                  <a:solidFill>
                    <a:srgbClr val="F7DF1E"/>
                  </a:solidFill>
                  <a:latin typeface="Barlow"/>
                  <a:ea typeface="Barlow"/>
                  <a:cs typeface="Barlow"/>
                  <a:sym typeface="Barlow"/>
                </a:rPr>
                <a:t>multi-line strings</a:t>
              </a:r>
              <a:r>
                <a:rPr b="0" lang="en" sz="13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without needing the \n escape character.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1006" name="Google Shape;91006;pS"/>
          <p:cNvGrpSpPr/>
          <p:nvPr/>
        </p:nvGrpSpPr>
        <p:grpSpPr>
          <a:xfrm>
            <a:off x="4619625" y="1285875"/>
            <a:ext cx="3952800" cy="3238500"/>
            <a:chOff x="0" y="0"/>
            <a:chExt cx="3952800" cy="3238500"/>
          </a:xfrm>
        </p:grpSpPr>
        <p:sp>
          <p:nvSpPr>
            <p:cNvPr id="91007" name="Google Shape;91007;pS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941" name="adj"/>
              </a:avLst>
            </a:prstGeom>
            <a:solidFill>
              <a:srgbClr val="121212"/>
            </a:solidFill>
            <a:ln cap="flat" cmpd="sng" w="14300">
              <a:solidFill>
                <a:srgbClr val="28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08" name="Google Shape;91008;pS"/>
            <p:cNvSpPr txBox="1"/>
            <p:nvPr/>
          </p:nvSpPr>
          <p:spPr>
            <a:xfrm>
              <a:off x="0" y="0"/>
              <a:ext cx="39528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fname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"JS"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(`My name is ${fname}`);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"My name is JS"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7DF1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let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b = </a:t>
              </a:r>
              <a:r>
                <a:rPr b="0" lang="en" sz="1300">
                  <a:solidFill>
                    <a:srgbClr val="AE81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console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</a:t>
              </a:r>
              <a:r>
                <a:rPr b="0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(`Sum is ${a + b}`);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2672"/>
                  </a:solidFill>
                  <a:latin typeface="Barlow"/>
                  <a:ea typeface="Barlow"/>
                  <a:cs typeface="Barlow"/>
                  <a:sym typeface="Barlow"/>
                </a:rPr>
                <a:t>&gt; "Sum is 15"</a:t>
              </a:r>
              <a:endParaRPr b="1" sz="1000">
                <a:solidFill>
                  <a:srgbClr val="F7DF1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